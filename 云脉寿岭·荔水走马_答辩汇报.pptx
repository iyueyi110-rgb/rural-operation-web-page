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云脉寿岭 — 荔水走马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36576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0">
                <a:solidFill>
                  <a:srgbClr val="C8A45C"/>
                </a:solidFill>
                <a:latin typeface="Microsoft YaHei"/>
              </a:defRPr>
            </a:pPr>
            <a:r>
              <a:t>基于AIGC的乡村场景化运营系统设计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DDD5C8"/>
                </a:solidFill>
                <a:latin typeface="Microsoft YaHei"/>
              </a:defRPr>
            </a:pPr>
            <a:r>
              <a:t>重庆市长寿区走马村数字化营造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DDD5C8"/>
                </a:solidFill>
                <a:latin typeface="Microsoft YaHei"/>
              </a:defRPr>
            </a:pPr>
            <a:r>
              <a:t>织境·走马 — 乡村四境空间的数字织造与场景营造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DDD5C8"/>
                </a:solidFill>
                <a:latin typeface="Microsoft YaHei"/>
              </a:defRPr>
            </a:pPr>
            <a:r>
              <a:t>树境·荔约 — 认养一棵树的数字织造与成长叙事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DDD5C8"/>
                </a:solidFill>
                <a:latin typeface="Microsoft YaHei"/>
              </a:defRPr>
            </a:pPr>
            <a:r>
              <a:t>建筑设计课程答辩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8A45C"/>
                </a:solidFill>
                <a:latin typeface="Microsoft YaHei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导入：项目概述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874520"/>
            <a:ext cx="77724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8A45C"/>
                </a:solidFill>
                <a:latin typeface="Microsoft YaHei"/>
              </a:defRPr>
            </a:pPr>
            <a:r>
              <a:t>PART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走马村背景与资源分析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560320"/>
            <a:ext cx="77724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8A45C"/>
                </a:solidFill>
                <a:latin typeface="Microsoft YaHei"/>
              </a:defRPr>
            </a:pPr>
            <a:r>
              <a:t>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概念框架与系统总览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246120"/>
            <a:ext cx="77724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8A45C"/>
                </a:solidFill>
                <a:latin typeface="Microsoft YaHei"/>
              </a:defRPr>
            </a:pPr>
            <a:r>
              <a:t>PART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20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核心子系统详解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931920"/>
            <a:ext cx="77724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8A45C"/>
                </a:solidFill>
                <a:latin typeface="Microsoft YaHei"/>
              </a:defRPr>
            </a:pPr>
            <a:r>
              <a:t>PART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技术系统架构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4617720"/>
            <a:ext cx="77724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8A45C"/>
                </a:solidFill>
                <a:latin typeface="Microsoft YaHei"/>
              </a:defRPr>
            </a:pPr>
            <a:r>
              <a:t>PART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9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四境空间与建筑营造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5303520"/>
            <a:ext cx="77724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8A45C"/>
                </a:solidFill>
                <a:latin typeface="Microsoft YaHei"/>
              </a:defRPr>
            </a:pPr>
            <a:r>
              <a:t>PART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实施路径与最终愿景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2/52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一句话定位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D3B33"/>
                </a:solidFill>
                <a:latin typeface="Microsoft YaHei"/>
              </a:defRPr>
            </a:pPr>
            <a:r>
              <a:t>以 AIGC 云脑为核心的乡村数字化运营平台，将分散的人、树、园、道、院编织成可感知、可预订、可认养、可复访的服务网络。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核心命题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如何让一座普通村庄被看见、被参与、被持续运营？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数字技术做三件事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• 前置传播 — AIGC 生成内容，让人先在云端产生兴趣</a:t>
            </a:r>
          </a:p>
          <a:p>
            <a:pPr>
              <a:spcAft>
                <a:spcPts val="7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• 到访入口 — 认养、预约、路线生成，把"逛一下"变成"参与一次"</a:t>
            </a:r>
          </a:p>
          <a:p>
            <a:pPr>
              <a:spcAft>
                <a:spcPts val="7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• 持续运营 — 通知推送、互动任务、数据反馈，让村庄迭代生长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A7A5C"/>
                </a:solidFill>
                <a:latin typeface="Microsoft YaHei"/>
              </a:defRPr>
            </a:pPr>
            <a:r>
              <a:t>• 服务游客：认养/研学/活动</a:t>
            </a:r>
          </a:p>
          <a:p>
            <a:pPr>
              <a:spcAft>
                <a:spcPts val="750"/>
              </a:spcAft>
              <a:defRPr sz="1500">
                <a:solidFill>
                  <a:srgbClr val="3A7A5C"/>
                </a:solidFill>
                <a:latin typeface="Microsoft YaHei"/>
              </a:defRPr>
            </a:pPr>
            <a:r>
              <a:t>• 服务村民：生产/任务/收益</a:t>
            </a:r>
          </a:p>
          <a:p>
            <a:pPr>
              <a:spcAft>
                <a:spcPts val="750"/>
              </a:spcAft>
              <a:defRPr sz="1500">
                <a:solidFill>
                  <a:srgbClr val="3A7A5C"/>
                </a:solidFill>
                <a:latin typeface="Microsoft YaHei"/>
              </a:defRPr>
            </a:pPr>
            <a:r>
              <a:t>• 服务运营：监测/分析/调度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3/52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区位分析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LOCATION — 重庆市长寿区凤城街道走马村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地理区位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• 走马村位于重庆市长寿区凤城街道，属长寿城区近郊山地村落</a:t>
            </a:r>
          </a:p>
          <a:p>
            <a:pPr>
              <a:spcAft>
                <a:spcPts val="7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• 概念研究范围约 1.8 km²，距长寿城区约 15 分钟车程</a:t>
            </a:r>
          </a:p>
          <a:p>
            <a:pPr>
              <a:spcAft>
                <a:spcPts val="7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• 地处川东平行岭谷地带，地形以浅丘、沟谷为主，高差明显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交通与可达性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• 长寿区位于重庆主城以东，沪渝高速、渝万高铁穿境而过</a:t>
            </a:r>
          </a:p>
          <a:p>
            <a:pPr>
              <a:spcAft>
                <a:spcPts val="7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• 走马村毗邻长寿城区，具备"近郊微度假"的天然区位优势</a:t>
            </a:r>
          </a:p>
          <a:p>
            <a:pPr>
              <a:spcAft>
                <a:spcPts val="7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• 村内道路局部较窄、高差明显，不适合大巴团模式，更适合自驾/小团/研学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3A7A5C"/>
                </a:solidFill>
                <a:latin typeface="Microsoft YaHei"/>
              </a:defRPr>
            </a:pPr>
            <a:r>
              <a:t>📍 重庆 · 长寿</a:t>
            </a:r>
            <a:br/>
            <a:br/>
            <a:r>
              <a:t>🗺️ 走马村全域 ~1.8 km²</a:t>
            </a:r>
            <a:br/>
            <a:br/>
            <a:r>
              <a:t>⛰️ 浅丘沟谷地貌</a:t>
            </a:r>
            <a:br/>
            <a:br/>
            <a:r>
              <a:t>🚗 距长寿城区 15min</a:t>
            </a:r>
            <a:br/>
            <a:br/>
            <a:r>
              <a:t>🏘️ 常住 400-500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4/52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村落现状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VILLAGE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人口与社会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常住人口约 400-500 人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60 岁以上老人占多数，老龄化特征显著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产业以传统种植（荔枝、蔬菜）和初级销售为主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外出务工人口比例高，适龄劳动力外流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村内保有古道、古树、古碑、传统民居等文化遗产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产业与空间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荔枝种植有历史但缺乏品牌溢价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龙溪河穿村而过，水系资源丰富但未转化为体验价值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闲置院落较多，建筑老化但地域特征鲜明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60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道路系统局部狭窄，高差大，步行体验有待提升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不具备重建设、重景区化的条件——适合"轻平台、重运营"路径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10332720" cy="164592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⚠ 核心判断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走马村的关键问题不是"缺少资源"，而是资源彼此孤立 —— 古道散落、果园停留在初级生产、水系被忽视、院落空置。</a:t>
            </a:r>
            <a:br/>
            <a:r>
              <a:t>因此，方案的核心不是"造新景"，而是"织旧脉"：用数字技术重新连接这些分散的资源，将其编织成可运营的服务网络。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5/52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PAIN POINTS — 四个"不"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D3B33"/>
                </a:solidFill>
                <a:latin typeface="Microsoft YaHei"/>
              </a:defRPr>
            </a:pPr>
            <a:r>
              <a:t>看不见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资源分散，缺乏品牌认知入口。古道、荔枝、水系、院落各自孤立，外界不知道走马村有什么、能做什么。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D3B33"/>
                </a:solidFill>
                <a:latin typeface="Microsoft YaHei"/>
              </a:defRPr>
            </a:pPr>
            <a:r>
              <a:t>进不来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缺乏预约与交易闭环。没有统一的院落预订、门票购买、路线规划系统，游客"想来看看"但不知道从哪开始。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D3B33"/>
                </a:solidFill>
                <a:latin typeface="Microsoft YaHei"/>
              </a:defRPr>
            </a:pPr>
            <a:r>
              <a:t>留不住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976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体验断层，缺乏复访动机。来一次看完就走，没有认养关系、互动任务、成长记录等持续连接机制。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212079"/>
            <a:ext cx="411480" cy="411480"/>
          </a:xfrm>
          <a:prstGeom prst="ellipse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D3B33"/>
                </a:solidFill>
                <a:latin typeface="Microsoft YaHei"/>
              </a:defRPr>
            </a:pPr>
            <a:r>
              <a:t>转不动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577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运营靠人盯，缺乏数据驱动。没有IoT监测、告警引擎、AI日报、村民任务系统，村庄无法自我迭代。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6/52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资源分析 · 古道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ANCIENT PATH — 从唐代到当代的时间纵深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历史证据链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唐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011680"/>
            <a:ext cx="38100" cy="3810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9202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乐温县建制 — 走马村所在的凤城街道在唐代属乐温县辖境（《长寿区志》）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天宝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3017520"/>
            <a:ext cx="38100" cy="3810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926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荔枝古道 — 《涪州志》记载天宝年间"妃子园"荔枝经此道北上，走马岭为古道节点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清·光绪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4023360"/>
            <a:ext cx="38100" cy="3810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931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指路碑 — 走马岭出土"光绪二十三年指路碑"，证明此处为古道要冲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当代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5029200"/>
            <a:ext cx="38100" cy="3810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4937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四境规划 — 古道不再是交通功能，转化为文化叙事载体与慢行体验空间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7/52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资源分析 · 荔枝产业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LYCHEE INDUSTRY — 从农产品到文化IP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产业现状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长寿区为重庆荔枝主产区之一，走马村保有成片荔枝林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品种以本地实生荔枝为主，树龄从数年到数十年不等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当前以鲜果初级销售为主，缺乏加工、品牌、体验链路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采摘季短暂（6-7月），其余时段果园闲置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升级方向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从"卖荔枝"升级为"卖认养关系"（一年周期陪伴）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从"农产品"升级为"文化IP"（荔枝古道+妃子园典故）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从"鲜果"升级为"场景消费"（采摘体验/食育/伴手礼）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从"季节性"升级为"全年互动"（养护日志+线上任务）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荔田共生境 · 核心设计逻辑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A7A5C"/>
                </a:solidFill>
                <a:latin typeface="Microsoft YaHei"/>
              </a:defRPr>
            </a:pPr>
            <a:r>
              <a:t>• 每一棵荔枝树都是一份可认购的"数字资产"——拥有档案、成长记录、认养人与互动历史</a:t>
            </a:r>
          </a:p>
          <a:p>
            <a:pPr>
              <a:spcAft>
                <a:spcPts val="700"/>
              </a:spcAft>
              <a:defRPr sz="1400">
                <a:solidFill>
                  <a:srgbClr val="3A7A5C"/>
                </a:solidFill>
                <a:latin typeface="Microsoft YaHei"/>
              </a:defRPr>
            </a:pPr>
            <a:r>
              <a:t>• 认养 = 采摘权益 + 挂牌命名 + 寄送份额 + 全年养护参与 + 社交分享素材</a:t>
            </a:r>
          </a:p>
          <a:p>
            <a:pPr>
              <a:spcAft>
                <a:spcPts val="700"/>
              </a:spcAft>
              <a:defRPr sz="1400">
                <a:solidFill>
                  <a:srgbClr val="3A7A5C"/>
                </a:solidFill>
                <a:latin typeface="Microsoft YaHei"/>
              </a:defRPr>
            </a:pPr>
            <a:r>
              <a:t>• "从一棵树到一桌宴"——以荔枝为原点，延伸出采摘体验、食育课程、村宴活动、伴手礼消费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8/52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资源分析 · 水脉生态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WATER SYSTEM — 龙溪河水系与韧性乡村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水系特征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龙溪河穿走马村而过，是村庄生态肌理的核心骨架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沟谷水系形成天然的雨洪路径与湿地净化系统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历史上曾有小水电设施，承载"水电记忆"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当前水系功能单一——排水通道，缺乏生态与体验价值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雨洪季节存在局部内涝与坡地冲刷风险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韧谷研学境 · 价值转化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从"治理对象"变为"生态教育空间"——海绵乡村示范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雨水花园 + 生态沟渠 + 塘体净化 + 湿地缓冲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水安全研学课程：雨洪管理/水质检测/生态观察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龙溪韧性工坊 + 水电记忆展陈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IoT生态感知：水位监测/土壤湿度/雨量预警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韧性设计理念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3A7A5C"/>
                </a:solidFill>
                <a:latin typeface="Microsoft YaHei"/>
              </a:defRPr>
            </a:pPr>
            <a:r>
              <a:t>"韧谷"意为让村庄生态系统具备面对气候变化（暴雨/干旱/高温）的适应力——</a:t>
            </a:r>
            <a:br/>
            <a:r>
              <a:t>不是对抗自然，而是理解水的逻辑，将生态保护转化为可感知、可体验、可教育的公共空间。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9/52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资源分析 · 院落建筑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COURTYARD ARCHITECTURE — 闲置空间的再生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建筑特征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坡屋顶 / 灰瓦 / 石基 / 木构 — 典型川东山地民居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院坝空间 — 生产、社交、晾晒的多功能户外空间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田坎肌理 — 建筑与耕地的有机边界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依山就势 — 适应坡地地形，尺度宜人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建筑材料：青石、木材、青砖、夯土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现状问题与更新策略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大量民居闲置/半闲置，建筑老化但结构尚可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不搞大拆大建 —— 轻介入、可维护、可生长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功能植入：民宿客房 / 食育工坊 / 研学教室 / 乡创办公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绿色技术：自然通风 / 雨水收集 / 遮阳廊架 / 局部光伏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保留地域特征的同时实现空间功能的现代转化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岭上共居境 · 设计定位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3A7A5C"/>
                </a:solidFill>
                <a:latin typeface="Microsoft YaHei"/>
              </a:defRPr>
            </a:pPr>
            <a:r>
              <a:t>"共居"不是游客单方面消费空间，而是游客停留、青年驻留、村民生活三种使用方式的并存。</a:t>
            </a:r>
            <a:br/>
            <a:r>
              <a:t>院落既对外服务短居游客，也对内服务村民公共活动，还为返乡青年提供乡创空间。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10/52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资源矩阵总表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RESOURCE MATRIX — 四类资源 × 现状/价值/潜力/AIGC赋能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64008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资源类别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371600"/>
            <a:ext cx="2743200" cy="64008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现状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371600"/>
            <a:ext cx="2743200" cy="64008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371600"/>
            <a:ext cx="3200400" cy="64008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AIGC数字赋能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3B33"/>
                </a:solidFill>
                <a:latin typeface="Microsoft YaHei"/>
              </a:defRPr>
            </a:pPr>
            <a:r>
              <a:t>古道·文化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9456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零散遗存、缺解读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19456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历史纵深、叙事线索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19456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AI导览词/AIGC路线/AR脚本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2286000" cy="640080"/>
          </a:xfrm>
          <a:prstGeom prst="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3B33"/>
                </a:solidFill>
                <a:latin typeface="Microsoft YaHei"/>
              </a:defRPr>
            </a:pPr>
            <a:r>
              <a:t>荔枝·产业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017520"/>
            <a:ext cx="2743200" cy="640080"/>
          </a:xfrm>
          <a:prstGeom prst="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初级种植、缺品牌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3017520"/>
            <a:ext cx="2743200" cy="640080"/>
          </a:xfrm>
          <a:prstGeom prst="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认养关系、消费场景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017520"/>
            <a:ext cx="3200400" cy="640080"/>
          </a:xfrm>
          <a:prstGeom prst="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果树数字档案/养护建议/溯源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3B33"/>
                </a:solidFill>
                <a:latin typeface="Microsoft YaHei"/>
              </a:defRPr>
            </a:pPr>
            <a:r>
              <a:t>水脉·生态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84048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排水通道、被忽视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84048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韧性底盘、自然教育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384048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IoT感知/告警引擎/研学内容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2286000" cy="640080"/>
          </a:xfrm>
          <a:prstGeom prst="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3B33"/>
                </a:solidFill>
                <a:latin typeface="Microsoft YaHei"/>
              </a:defRPr>
            </a:pPr>
            <a:r>
              <a:t>院落·建筑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4663440"/>
            <a:ext cx="2743200" cy="640080"/>
          </a:xfrm>
          <a:prstGeom prst="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闲置老化、缺功能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4663440"/>
            <a:ext cx="2743200" cy="640080"/>
          </a:xfrm>
          <a:prstGeom prst="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停留空间、共居载体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4663440"/>
            <a:ext cx="3200400" cy="640080"/>
          </a:xfrm>
          <a:prstGeom prst="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院落预约/活动管理/智能推荐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11/52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参考范式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BENCHMARKS — 阿那亚 × 拈花湾：借鉴方法论，不照搬样式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阿那亚 → 借鉴平台结构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"目的地层 + 运营层 + 内容层 + 社群层"四层架构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把商业/酒店/民宿/餐饮/艺术/音乐/戏剧放在统一运营框架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官网支持 简体中文 / English / 日本語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→ 走马村借鉴：信息架构的层级逻辑，非海边社区视觉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拈花湾 → 借鉴交易路径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清晰电商结构：景区门票/年卡/酒店/套餐/日期/立即预订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"内容介绍 → 库存选择 → 日期选择 → 立即订购"闭环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适合走马村"院落预约 + 票务预购 + 农文旅套餐"交易模型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→ 走马村借鉴：交易转化路径，非禅意小镇风格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走马村自己的路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3A7A5C"/>
                </a:solidFill>
                <a:latin typeface="Microsoft YaHei"/>
              </a:defRPr>
            </a:pPr>
            <a:r>
              <a:t>走马村不是封闭度假地产（≠阿那亚），也不是高度主题化景区（≠拈花湾）。</a:t>
            </a:r>
            <a:br/>
            <a:r>
              <a:t>它是一座真实的山地村落，有真实的村民、农事、生态和日常生活。</a:t>
            </a:r>
            <a:br/>
            <a:br/>
            <a:r>
              <a:t>因此系统设计的核心是"轻平台 + 重运营 + 强共益"——数字技术服务于真实的乡村资源，而非制造虚拟体验替代真实。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12/52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DESIGN PHILOSOPHY — 先轻量化 → 再场景化 → 最后平台化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C8A45C"/>
                </a:solidFill>
                <a:latin typeface="Microsoft YaHei"/>
              </a:defRPr>
            </a:pPr>
            <a:r>
              <a:t>三个不做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不做景区复制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不把走马村改造成脱离日常生活的主题化景区。保留真实生产、真实居住、真实公共生活。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不搞炫技大屏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AIGC云脑不是独立炫技的展示屏，而是面向运营的内容生成器、数据分析器、决策辅助器。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不替代村民主体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技术进入乡土，不是替代乡土，而是帮助乡土被看见、被记录、被传播、被运营。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3A7A5C"/>
                </a:solidFill>
                <a:latin typeface="Microsoft YaHei"/>
              </a:defRPr>
            </a:pPr>
            <a:r>
              <a:t>核心信条：以真实乡村资源为核心，数字技术是编织者，不是替代者。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13/52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概念融合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CONCEPT FUSION — 三个原始概念 → 一个系统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18872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智织寿岭，古道新生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核心：AIGC云脑 + 古道叙事 + 岭谷生态织补 + 绿色建筑改造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A7A5C"/>
                </a:solidFill>
                <a:latin typeface="Microsoft YaHei"/>
              </a:defRPr>
            </a:pPr>
            <a:r>
              <a:t>→ 成为系统的数字运营引擎与整体空间骨架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515600" cy="118872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荔驿云田，四时走马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核心：荔枝产业 + 古道驿站 + 四季农事 + 果树认养 + 乡村食育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A7A5C"/>
                </a:solidFill>
                <a:latin typeface="Microsoft YaHei"/>
              </a:defRPr>
            </a:pPr>
            <a:r>
              <a:t>→ 成为系统的产业发动机与文化消费入口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515600" cy="118872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龙溪水脉，韧谷回响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核心：龙溪河修复 + 海绵乡村 + 雨洪管理 + 水电记忆 + 生态研学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A7A5C"/>
                </a:solidFill>
                <a:latin typeface="Microsoft YaHei"/>
              </a:defRPr>
            </a:pPr>
            <a:r>
              <a:t>→ 成为系统的生态保护底盘与韧性公共空间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8A45C"/>
                </a:solidFill>
                <a:latin typeface="Microsoft YaHei"/>
              </a:defRPr>
            </a:pPr>
            <a:r>
              <a:t>↓ 融合结果：云脉寿岭·荔水走马 — 从单一景观营造转向"数字治理+文化复兴+产业共生+生态修复+生活更新"的整体系统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14/52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概念释义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NAME DECODING — 云脉寿岭 · 荔水走马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40"/>
              </a:spcAft>
              <a:defRPr sz="4800" b="1">
                <a:solidFill>
                  <a:srgbClr val="C8A45C"/>
                </a:solidFill>
                <a:latin typeface="Microsoft YaHei"/>
              </a:defRPr>
            </a:pPr>
            <a:r>
              <a:t>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AIGC 云脑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数字中台、AI内容生成、数据分析与智能决策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2801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40"/>
              </a:spcAft>
              <a:defRPr sz="4800" b="1">
                <a:solidFill>
                  <a:srgbClr val="C8A45C"/>
                </a:solidFill>
                <a:latin typeface="Microsoft YaHei"/>
              </a:defRPr>
            </a:pPr>
            <a:r>
              <a:t>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四脉相连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68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文脉（古道）/ 水脉（生态）/ 产业脉（荔枝）/ 生活脉（院落）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2801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40"/>
              </a:spcAft>
              <a:defRPr sz="4800" b="1">
                <a:solidFill>
                  <a:srgbClr val="C8A45C"/>
                </a:solidFill>
                <a:latin typeface="Microsoft YaHei"/>
              </a:defRPr>
            </a:pPr>
            <a:r>
              <a:t>寿岭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长寿地域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68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长寿区山地聚落 + 康养文化 + "慢生长、重养护"生活哲学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2801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40"/>
              </a:spcAft>
              <a:defRPr sz="4800" b="1">
                <a:solidFill>
                  <a:srgbClr val="C8A45C"/>
                </a:solidFill>
                <a:latin typeface="Microsoft YaHei"/>
              </a:defRPr>
            </a:pPr>
            <a:r>
              <a:t>荔水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荔水共生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68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荔枝产业与龙溪水系互为依存——荔枝需水，水系滋养果园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2801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40"/>
              </a:spcAft>
              <a:defRPr sz="4800" b="1">
                <a:solidFill>
                  <a:srgbClr val="C8A45C"/>
                </a:solidFill>
                <a:latin typeface="Microsoft YaHei"/>
              </a:defRPr>
            </a:pPr>
            <a:r>
              <a:t>走马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动态运营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468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既是村名，也是古道行旅、产业流动、乡村更新的动态意象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114800"/>
            <a:ext cx="91440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「云脉寿岭·荔水走马」是对走马村山、水、路、田、人、技六类资源的重新组织。</a:t>
            </a:r>
            <a:br/>
            <a:r>
              <a:t>"云"代表AIGC和数字中台；"脉"代表文脉、水脉、产业脉与生活脉；"寿岭"回应长寿区山地聚落与康养文化；</a:t>
            </a:r>
            <a:br/>
            <a:r>
              <a:t>"荔水"把荔枝产业与龙溪水系连接起来；"走马"既是村名，也是古道行旅、产业流动和乡村更新的动态意象。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15/52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总体框架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SYSTEM FRAMEWORK — 一云统三脉，四境织多院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C8A45C"/>
                </a:solidFill>
                <a:latin typeface="Microsoft YaHei"/>
              </a:defRPr>
            </a:pPr>
            <a:r>
              <a:t>一云：AIGC 云脑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资源数据库 · 内容生成系统 · 游客导览系统 · 农事管理系统 · 生态监测系统 · 活动复盘系统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一云：AIGC 云脑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资源数据库 · 内容生成 · 游客导览 · 农事管理 · 生态监测 · 活动复盘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3200400" cy="22860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荔驿文脉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文化线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832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古道叙事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驿站记忆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长寿文化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06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荔枝故事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AIGC导览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560320"/>
            <a:ext cx="3200400" cy="22860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龙溪水脉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17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生态线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3832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河流修复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6576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雨洪管理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319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湿地净化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206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生态研学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4805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IoT感知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560320"/>
            <a:ext cx="3200400" cy="22860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岭上产居脉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017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产居线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3832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山地聚落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6576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院落更新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9319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民宿工坊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206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食育研学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4805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农创空间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四境：四类场景空间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古道叙事境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06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慢行游线</a:t>
            </a:r>
            <a:br/>
            <a:r>
              <a:t>文化研学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5486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荔田共生境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5806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果树认养</a:t>
            </a:r>
            <a:br/>
            <a:r>
              <a:t>从树到宴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486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韧谷研学境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806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自然观察</a:t>
            </a:r>
            <a:br/>
            <a:r>
              <a:t>生态工坊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5486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岭上共居境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5806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院落民宿</a:t>
            </a:r>
            <a:br/>
            <a:r>
              <a:t>乡创共居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16/52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三脉详解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THREE LIFELINES — 文化 · 生态 · 产居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46304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1">
                <a:solidFill>
                  <a:srgbClr val="0D3B33"/>
                </a:solidFill>
                <a:latin typeface="Microsoft YaHei"/>
              </a:defRPr>
            </a:pPr>
            <a:r>
              <a:t>荔驿文脉 — 文化生命线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以古道、驿站、长寿历史文化和荔枝故事为线索，形成可行走、可讲述、可传播的乡村文化线路。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→ 串联古道遗存 → 驿站记忆 → 长寿文化节点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7451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→ AIGC生成多版本讲解词/AR脚本/社媒文案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40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→ 文化不再是静态展示，而是可被持续再表达的"活"资源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11247120" cy="146304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1">
                <a:solidFill>
                  <a:srgbClr val="0D3B33"/>
                </a:solidFill>
                <a:latin typeface="Microsoft YaHei"/>
              </a:defRPr>
            </a:pPr>
            <a:r>
              <a:t>龙溪水脉 — 生态生命线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以河流、沟谷、塘体、雨洪路径和湿地净化为基础，建立海绵乡村和韧性水系统。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46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→ 雨水花园 + 生态沟渠 + 塘体净化 + 湿地缓冲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118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→ IoT传感器实时监测水位/土壤湿度/雨量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776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→ 水安全治理转化为可学习、可体验的公共空间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37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1">
                <a:solidFill>
                  <a:srgbClr val="0D3B33"/>
                </a:solidFill>
                <a:latin typeface="Microsoft YaHei"/>
              </a:defRPr>
            </a:pPr>
            <a:r>
              <a:t>岭上产居脉 — 产居生命线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依托山地聚落、田园、院落和闲置建筑，导入民宿、工坊、食育、研学、农创和公共生活。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983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→ 闲置院落→民宿客房/食育工坊/研学教室/乡创办公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349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→ 三类人群共享：游客停留 + 青年驻留 + 村民日常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715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→ "共居"不是游客消费空间，而是三种使用方式的并存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17/52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SYSTEM POSITIONING — 三端 + BFF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C8A45C"/>
                </a:solidFill>
                <a:latin typeface="Microsoft YaHei"/>
              </a:defRPr>
            </a:pPr>
            <a:r>
              <a:t>三端服务 + 一个云脑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1247120" cy="128016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游客端 Web/PWA  (:3000)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面向游客与潜在消费者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116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四境内容浏览 + AIGC路线生成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院落预约 + 门票预购 + 荔枝树认养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6517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个人中心：订单/认养/互动任务/通知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11247120" cy="128016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47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村民轻门户  (:3000/villager)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面向在地村民与协作者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661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手机号OTP登录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8862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任务中心：接取→开始→完成，四级流转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062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收益看板 + 通知中心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02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运营后台  (:3001)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面向村庄运营管理人员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1206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云脑总览 / 地图监控 / 反馈管理 / 告警中心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440679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21个管理页面覆盖六域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7607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智策中心 / AI助手 / 内容工厂 / 交叉分析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18/52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AIGC 能力矩阵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AI CAPABILITIES — 10项智能服务赋能乡村运营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148840" cy="22860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路线生成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按时长/人群/天气推荐路线</a:t>
            </a:r>
            <a:br/>
            <a:r>
              <a:t>自动规避高风险节点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280160"/>
            <a:ext cx="2148840" cy="22860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4173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内容工厂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19202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导览词 + 活动脚本</a:t>
            </a:r>
            <a:br/>
            <a:r>
              <a:t>社交文案（小红书/公众号/短视频）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280160"/>
            <a:ext cx="2148840" cy="22860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4173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运营日报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9202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聚合客流/订单/反馈/告警</a:t>
            </a:r>
            <a:br/>
            <a:r>
              <a:t>AI生成结构化日报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59" y="1280160"/>
            <a:ext cx="2148840" cy="22860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14173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养护建议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19202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基于养护日志+天气+农事日历</a:t>
            </a:r>
            <a:br/>
            <a:r>
              <a:t>生成3-5条本周养护建议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280160"/>
            <a:ext cx="2148840" cy="22860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14173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AI问答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19202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自然语言查询运营数据</a:t>
            </a:r>
            <a:br/>
            <a:r>
              <a:t>"今天客流多少？"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2148840" cy="22860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IoT决策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规则引擎(湿度&lt;30%→灌溉建议)</a:t>
            </a:r>
            <a:br/>
            <a:r>
              <a:t>+ AI覆盖层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886200"/>
            <a:ext cx="2148840" cy="22860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79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客流预测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79" y="4526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基于14天历史+天气</a:t>
            </a:r>
            <a:br/>
            <a:r>
              <a:t>预测明日客流量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886200"/>
            <a:ext cx="2148840" cy="22860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设备预测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526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分析电池读数趋势</a:t>
            </a:r>
            <a:br/>
            <a:r>
              <a:t>预测设备故障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59" y="3886200"/>
            <a:ext cx="2148840" cy="22860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19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异常检测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4526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客流对比14天历史</a:t>
            </a:r>
            <a:br/>
            <a:r>
              <a:t>超3σ触发告警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3886200"/>
            <a:ext cx="2148840" cy="22860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反馈分类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526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提交反馈后AI异步</a:t>
            </a:r>
            <a:br/>
            <a:r>
              <a:t>建议分类与严重程度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19/52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DESIGN PRINCIPLES — 五条底线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生态底线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不突破生态保护红线，不占用永久基本农田，不破坏山体、水系、林地和原有田坎肌理。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103120"/>
            <a:ext cx="86868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乡土底线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23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不把村庄改造成脱离日常生活的主题化景区，保留真实生产、真实居住和真实公共生活。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154680"/>
            <a:ext cx="86868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技术底线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74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AIGC服务运营、教育、传播和管理，不让数字展示喧宾夺主，更不替代村民主体性。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206240"/>
            <a:ext cx="86868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建筑底线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526279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坚持小尺度、低干预、可维护、可生长的改造方式，避免大体量新建和过度商业化包装。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5257799"/>
            <a:ext cx="86868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产业底线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577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荔枝产业升级应尊重农业生产规律，以村民参与和持续收益为前提，而不是只做一次性活动。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20/52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核心子系统详解  ·  树境·荔约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C8A45C"/>
                </a:solidFill>
                <a:latin typeface="Microsoft YaHei"/>
              </a:defRPr>
            </a:pPr>
            <a:r>
              <a:t>认养一棵树的数字织造与成长叙事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21/52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树境·荔约 — 命名与定位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TREE ADOPTION SYSTEM — 认养一棵树的数字织造与成长叙事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命名释义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树境：每棵树是一个微缩"境"——树档案+环境卡片+GPS脱敏网格，呼应四境空间模型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荔约：认养即契约——采摘额度+挂牌+寄送权益(rightsJson)，一年周期的双向承诺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数字织造：养护日志+互动任务+AI养护建议+通知触达，编织成数字陪伴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成长叙事：生长动画+树龄+养护历史，让树"讲故事"，而非静态商品页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一句话定位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"把荔枝树从一个农产品</a:t>
            </a:r>
            <a:br/>
            <a:r>
              <a:t>升级为一份可陪伴、可互动、</a:t>
            </a:r>
            <a:br/>
            <a:r>
              <a:t>可收获的数字关系资产。"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3A7A5C"/>
                </a:solidFill>
                <a:latin typeface="Microsoft YaHei"/>
              </a:defRPr>
            </a:pPr>
            <a:r>
              <a:t>人养树一年，树养人一季。</a:t>
            </a:r>
            <a:br/>
            <a:r>
              <a:t>认养不是一次性购买，</a:t>
            </a:r>
            <a:br/>
            <a:r>
              <a:t>而是持续365天的数字陪伴。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22/52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认养体验流线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ADOPTION JOURNEY — 从浏览到传播的六步闭环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① 浏览树档案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四境地图→荔田共生境→树木列表→树详情页（树种/树龄/位置/健康状况/历史照片）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C8A45C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② 选择认养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57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查看权益说明→选择认养方案（季节/年度）→填写认养人信息→确认协议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C8A45C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③ 支付锁定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Redis分布式锁防超卖→乐观锁(version)校验→微信/支付宝支付→锁释放→认养激活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C8A45C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④ 互动养护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79475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系统自动生成7个任务：4次浇水+1次施肥+1次拍照+1次日记→累计积分→成长动画更新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1147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C8A45C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⑤ 采摘收获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663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采摘季→收到AI养护通知→预约采摘日期→到场采摘 or 委托寄送→收获果实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9834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C8A45C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⑥ 分享传播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532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养护日记→分享到社交平台→专属认养证书→品牌传播→次年续养/推荐新用户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23/52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树档案体系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TREE PROFILE — 每棵树拥有独一无二的数字身份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50292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基础档案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265176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树种（本地实生荔枝/嫁接品种）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树龄（数年至数十年）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网格位置（hiddenGeo：网格_走马岭_02）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树高/冠幅/胸径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健康状况与年产量估算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生长记录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828800"/>
            <a:ext cx="265176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认养历史（历任认养人时间线）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88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养护日志（每次浇水/施肥/修剪记录）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66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生长照片（季节变化影像序列）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43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采摘记录（年份/产量/果实品质）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20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AI养护评分与建议历史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280160"/>
            <a:ext cx="3566160" cy="502920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体验层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1828800"/>
            <a:ext cx="265176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011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环境卡片（周边四境资源推荐）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788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树的故事（AIGC生成的拟人化叙事）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66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认养人留言墙（去隐私化展示）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343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互动任务进度条与积分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120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生长动画（季节变换可视化）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24/52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互动任务系统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INTERACTION TASKS — 7个任务 / 70积分 / 全周期陪伴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77724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💧 浇水  10分 × 4次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系统通知浇水提醒，点击完成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→ 保持参与频率，建立日常连接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1124712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🪴 施肥  10分 × 1次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68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在指定时段完成施肥操作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→ 季节性事件，强化"我在养护"感知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11247120" cy="77724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📸 拍照上传  15分 × 1次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拍摄荔枝树当前状态并上传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→ 生成视觉时间线，积累成长影像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1124712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📝 养护日记  20分 × 1次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写下养护心得/观察/心情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→ 最深层的参与——用户为树"写故事"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80"/>
            <a:ext cx="11247120" cy="77724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📤 分享  15分 × 1次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分享树档案/日记到社交平台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349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→ 带来传播与新用户转化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C8A45C"/>
                </a:solidFill>
                <a:latin typeface="Microsoft YaHei"/>
              </a:defRPr>
            </a:pPr>
            <a:r>
              <a:t>认养激活后自动生成7个任务 · 累计70积分 · 积分可兑换采摘优惠/伴手礼/次年续养折扣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25/52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权益与成长叙事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RIGHTS &amp; NARRATIVE — 认养不止是购买，是一年的期待与收获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动态权益配置 (rightsJson)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采摘额度：根据认养等级分配当季荔枝采摘斤数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挂牌命名：认养人可为果树命名，生成专属挂牌（实体+数字）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寄送服务：无法到场时可委托采摘+冷链寄送到家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专属证书：电子认养证书 + 年度成长报告（AIGC生成）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优先续养权：次年同树优先续养 + "老友"折扣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节庆邀请：采摘节/村宴/冬至活动优先通知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成长叙事设计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生长动画：根据季节+养护数据生成可视化生长状态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时间线叙事："3月你为它浇水，6月它为你结果"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养护人格化：AI为每棵树生成独特的"树格"描述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年度回顾：年末AIGC生成专属年度养护故事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代际传承：支持认养权转赠，让"我家那棵树"成为家族记忆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3A7A5C"/>
                </a:solidFill>
                <a:latin typeface="Microsoft YaHei"/>
              </a:defRPr>
            </a:pPr>
            <a:r>
              <a:t>核心洞察：认养关系的本质不是"买卖一棵树"，而是"建立人与树的年度叙事"。</a:t>
            </a:r>
            <a:br/>
            <a:r>
              <a:t>每一次浇水、每一张照片、每一篇日记，都在为这个故事添加新章节。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26/52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技术保障层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TECHNICAL SAFEGUARDS — 分布式锁 / 乐观锁 / 地理隐私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4846320"/>
          </a:xfrm>
          <a:prstGeom prst="roundRect">
            <a:avLst/>
          </a:prstGeom>
          <a:solidFill>
            <a:srgbClr val="1A2E24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Redis 分布式锁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防超卖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认养支付前获取 SET NX 锁（key=adoption_lock:{treeId}）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TTL=600秒覆盖支付回调等待；支付成功主动释放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锁获取失败 → 返回409（"该树正在被预留"）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Redis不可用时降级为无锁模式 + 乐观锁兜底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4846320"/>
          </a:xfrm>
          <a:prstGeom prst="roundRect">
            <a:avLst/>
          </a:prstGeom>
          <a:solidFill>
            <a:srgbClr val="1A2E24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乐观锁 (version字段)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防并发冲突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OrchardTree.version 初始值=1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每次update在where条件中校验version，data中increment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Prisma $transaction 包裹：findUnique→version check→update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版本不匹配 → 事务回滚 → 返回409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1A2E24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地理隐私脱敏 (hiddenGeo)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保护果树精确位置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后端仍存储lat/lng，但API响应只暴露hiddenGeo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toGridId(lat,lng) → 100m×100m网格ID（"网格_走马岭_02"）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AI路线生成prompt中经纬度替换为hiddenGeo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防止反向推导精确坐标，同时保留空间关系信息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27/52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树境·荔约 — 价值总结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VALUE SUMMARY — 从消费者到参与者的转化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系统设计的核心转化逻辑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8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消费者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C8A4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认养人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A7A5C"/>
                </a:solidFill>
                <a:latin typeface="Microsoft YaHei"/>
              </a:defRPr>
            </a:pPr>
            <a:r>
              <a:t>从"买荔枝"到"认养一棵树"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8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一次性交易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C8A4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年度关系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A7A5C"/>
                </a:solidFill>
                <a:latin typeface="Microsoft YaHei"/>
              </a:defRPr>
            </a:pPr>
            <a:r>
              <a:t>从单次支付到365天互动陪伴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8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旁观者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C8A4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参与者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A7A5C"/>
                </a:solidFill>
                <a:latin typeface="Microsoft YaHei"/>
              </a:defRPr>
            </a:pPr>
            <a:r>
              <a:t>从看别人种树到自己浇水施肥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8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被动接收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480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C8A4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主动传播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A7A5C"/>
                </a:solidFill>
                <a:latin typeface="Microsoft YaHei"/>
              </a:defRPr>
            </a:pPr>
            <a:r>
              <a:t>从收到通知到主动分享养护日记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8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荔枝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303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C8A4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数字资产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A7A5C"/>
                </a:solidFill>
                <a:latin typeface="Microsoft YaHei"/>
              </a:defRPr>
            </a:pPr>
            <a:r>
              <a:t>从农产品到有档案/有故事/有社群的身份标识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852160"/>
            <a:ext cx="100584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最终目标：每一棵被认养的荔枝树，都是一个"微型品牌"——它有自己的名字、故事、社群和年度经济循环。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28/52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村民任务系统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VILLAGER TASK SYSTEM — 让在地劳动力成为运营网络的一部分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轻量级接入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入口：手机号 + OTP验证码登录（试运营阶段明文返回，后续接入短信）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无下载负担：Web/PWA，手机浏览器即用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低学习成本：三个主界面（任务/收益/通知）满足全部需求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收入透明：累计收益 + 本月收益 + 近期趋势柱状图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任务四级流转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待接取 → 已接取 → 进行中 → 已完成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运营后台分配任务 → 村民收到通知 → 主动接取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开始执行后状态流转 → 完成后获得收益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任务类型：农事养护/采摘协助/环境维护/活动配合/导览讲解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通知联动：新任务 → 推送通知 → 一键跳转任务详情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改派机制：超时未接取自动释放，重新分配给其他村民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29/52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智策卡系统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SMART RECOMMENDATION — AI每日运营建议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什么是智策卡？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智策卡是AIGC云脑每日自动生成的运营行动建议卡片，采用"证据 + 行动 + 预期影响"三联格式。</a:t>
            </a:r>
            <a:br/>
            <a:r>
              <a:t>与日报不同——日报是"昨天发生了什么"，智策卡是"今天应该做什么"。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审核流转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draft → approved → executed（或被 rejected）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每日生成一次（与日报同步），当日已有则跳过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审核通过后根据 action_steps 自动触发关联动作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白名单机制：action端点仅限系统内部API路径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四类智策场景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weather_plan：天气变化→调整路线/活动/户外安排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crowd_diversion：客流热点→分流建议→推送替代路线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inventory_alert：院落/采摘/产品库存异常→补货/调价建议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maintenance：设备异常/IoT断线/建筑维护需求→工单生成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30/52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五流合一决策引擎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DECISION ENGINE — 五条数据流 → 一个AI决策中枢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82296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客流数据流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PresenceLog实时记录 → 同比14天历史 → 异常检测(3σ) → 拥堵预警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112471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天气数据流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060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和风天气实时+预报 → 雨天/高温路线降级 → 气象预警→智策卡联动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82296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订单数据流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6576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院落预约/门票/认养/采摘 → 消费分析 → 库存预警 → 动态调整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26279"/>
            <a:ext cx="112471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设备数据流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0915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IoT传感器 → 心跳自检(90min) → 断线告警 → 降级运行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77840"/>
            <a:ext cx="11247120" cy="82296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反馈数据流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60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游客反馈提交 → AI自动分类 → 严重度判定 → 工单自动创建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8A45C"/>
                </a:solidFill>
                <a:latin typeface="Microsoft YaHei"/>
              </a:defRPr>
            </a:pPr>
            <a:r>
              <a:t>五流汇入 AIGC 模型编排层 → 综合决策输出 → 智策卡/告警/通知/日报 四通道分发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31/52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IoT 设施管理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IoT INFRASTRUCTURE — 设备台账 / AI决策 / 告警引擎 / 健康自检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设备台账与监测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传感器类型：土壤湿度/水位/雨量/温度/人流计数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Device模型：设备编号/类型/位置/安装时间/最后心跳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DeviceReading：定时上报读数，存储时序数据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设备状态：在线/离线/异常/维护中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电池电量监测 → AI趋势分析 → 故障预测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健康自检与降级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心跳机制：设备每90分钟上报心跳 → 超时判定离线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断线检测延迟 &lt; 2h（KPI目标）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断线后自动降级：标记设备状态 → 触发告警 → 运营后台展示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日报中集成IoT健康检查结果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恢复连线后自动恢复数据采集 → 消除告警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AI决策引擎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规则引擎：土壤湿度&lt;30%→灌溉建议 / 水位&gt;2.2m→洪水告警 / 夜间(22:00-06:00)滞留→安全预警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AI覆盖层：规则引擎未覆盖的复杂场景 + 多传感器交叉验证 → 降低误报率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告警引擎：5类风险（夜间滞留/人流拥堵/近水风险/逆向穿行/天气预警）→ 分级（高/中/低）→ 推送到运营后台+通知中心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32/52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通知推送体系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NOTIFICATION SYSTEM — 五类触发源 × 三端覆盖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告警触发 → 运营人员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夜间滞留 / 人流拥堵 / 近水风险 / 逆向穿行 / 天气预警 / IoT断线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日报生成 → 运营人员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每日运营日报摘要（客流/收入/告警/设备/村民协作）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养护建议 → 认养游客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3832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基于养护日志+天气+农事日历，生成3-5条本周养护建议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任务分配 → 村民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389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运营后台创建/改派任务 → 推送到村民通知中心 → 一键跳转任务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C8A45C"/>
                </a:solidFill>
                <a:latin typeface="Microsoft YaHei"/>
              </a:defRPr>
            </a:pPr>
            <a:r>
              <a:t>认养激活 → 认养游客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394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支付成功→认养激活通知→引导进入互动任务→开始养护旅程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20"/>
            <a:ext cx="105156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渠道：站内通知(in_app) → 未来扩展：短信(SMS) + 微信模板消息 + 小程序订阅消息  |  过渡期：JWT userId + phone fallback 双兼容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33/52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首页三阶流线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HOMEPAGE — Hero动态首屏 → 历史叙事长卷 → 四境地图网关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从卡片式布局 → 线性叙事体验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566160" cy="4297680"/>
          </a:xfrm>
          <a:prstGeom prst="roundRect">
            <a:avLst/>
          </a:prstGeom>
          <a:solidFill>
            <a:srgbClr val="EFEADF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第一阶：动态首屏 Hero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全视口视频背景（龙溪河航拍，静音循环）</a:t>
            </a:r>
            <a:br/>
            <a:r>
              <a:t>中央白色Serif标题"云脉寿岭，荔水走马"</a:t>
            </a:r>
            <a:br/>
            <a:r>
              <a:t>底部天气微件 + "开始浏览"CTA按钮</a:t>
            </a:r>
            <a:br/>
            <a:r>
              <a:t>LCP优化：video poster占位 + preload="metadata"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C8A45C"/>
                </a:solidFill>
                <a:latin typeface="Microsoft YaHei"/>
              </a:defRPr>
            </a:pPr>
            <a:r>
              <a:t>▼ 设计意图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建立第一印象</a:t>
            </a:r>
            <a:br/>
            <a:r>
              <a:t>传递品牌定位</a:t>
            </a:r>
            <a:br/>
            <a:r>
              <a:t>引导向下探索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566160" cy="4297680"/>
          </a:xfrm>
          <a:prstGeom prst="roundRect">
            <a:avLst/>
          </a:prstGeom>
          <a:solidFill>
            <a:srgbClr val="1A2E24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第二阶：历史叙事长卷 History Scroll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60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手卷风格排版 · 视差滚动（background-attachment:fixed）</a:t>
            </a:r>
            <a:br/>
            <a:r>
              <a:t>四段叙事：唐代乐温县建制→荔枝古道→清代指路碑→当代走马村</a:t>
            </a:r>
            <a:br/>
            <a:r>
              <a:t>每段AIGC音频入口（预留&lt;audio&gt;标签）</a:t>
            </a:r>
            <a:br/>
            <a:r>
              <a:t>叙事内容从history-data.ts静态加载（AIGC生成+人工校对）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C8A45C"/>
                </a:solidFill>
                <a:latin typeface="Microsoft YaHei"/>
              </a:defRPr>
            </a:pPr>
            <a:r>
              <a:t>▼ 设计意图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赋予村庄历史纵深</a:t>
            </a:r>
            <a:br/>
            <a:r>
              <a:t>让"走马村"从三个字变成有厚度的故事</a:t>
            </a:r>
            <a:br/>
            <a:r>
              <a:t>为后面四境空间做认知铺垫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920240"/>
            <a:ext cx="3566160" cy="4297680"/>
          </a:xfrm>
          <a:prstGeom prst="roundRect">
            <a:avLst/>
          </a:prstGeom>
          <a:solidFill>
            <a:srgbClr val="EFEADF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第三阶：四境地图网关 Realm Map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Leaflet/AMap 2.5D地图容器</a:t>
            </a:r>
            <a:br/>
            <a:r>
              <a:t>四个境域渲染为交互式多边形图层</a:t>
            </a:r>
            <a:br/>
            <a:r>
              <a:t>地理锚点标注（指路碑/古树/药铺合院等）</a:t>
            </a:r>
            <a:br/>
            <a:r>
              <a:t>点击多边形 → 跳转 /scenes/[slug]</a:t>
            </a:r>
            <a:br/>
            <a:r>
              <a:t>天气模块+Booking/Adoption预览卡片移至Map下方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C8A45C"/>
                </a:solidFill>
                <a:latin typeface="Microsoft YaHei"/>
              </a:defRPr>
            </a:pPr>
            <a:r>
              <a:t>▼ 设计意图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将浏览转化为探索行为</a:t>
            </a:r>
            <a:br/>
            <a:r>
              <a:t>四境空间可视化</a:t>
            </a:r>
            <a:br/>
            <a:r>
              <a:t>完成"看→选→去"的转化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34/52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C8A45C"/>
                </a:solidFill>
                <a:latin typeface="Microsoft YaHei"/>
              </a:defRPr>
            </a:pPr>
            <a:r>
              <a:t>Next.js Monorepo + Prisma + PostgreSQL + Redis + AIGC 模型编排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35/52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技术架构全图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TECHNICAL ARCHITECTURE — 全栈技术选型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68580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1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Next.js 14 App Router · React 18 · TypeScript strict · Tailwind CSS · Leaflet/AMap · next-intl (zh-CN/en/ja)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39"/>
            <a:ext cx="11247120" cy="68580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59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BFF层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599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Next.js API Routes · 50个API端点 · jsonResponse / optionsResponse · JWT鉴权(jose) · i18n中间件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47120" cy="68580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业务逻辑层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5467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六大业务域：四境内容 / 预约票务 / 认养养护 / 通知互动 / IoT设施 / 反馈增长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247120" cy="685800"/>
          </a:xfrm>
          <a:prstGeom prst="roundRect">
            <a:avLst/>
          </a:prstGeom>
          <a:solidFill>
            <a:srgbClr val="1A2E24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AI模型编排层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023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ModelProviderAdapter → DeepSeek-Chat(默认) / OpenAI / Claude · 10项AIGC能力 · 统一provider接口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11247120" cy="68580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数据持久层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92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Prisma ORM · PostgreSQL 16 + PostGIS · 36个数据模型 · Redis 7 缓存/分布式锁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23560"/>
            <a:ext cx="11247120" cy="68580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7607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Docker Compose (PostgreSQL + Redis) · pnpm + Turborepo monorepo · 一键启动脚本 (bat/ps1/sh)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36/52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Monorepo 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MONOREPO — pnpm + Turborepo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项目组织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2D2D2D"/>
                </a:solidFill>
                <a:latin typeface="Consolas"/>
              </a:defRPr>
            </a:pPr>
            <a:r>
              <a:t>zouma-village-system/</a:t>
            </a:r>
            <a:br/>
            <a:r>
              <a:t>├── apps/</a:t>
            </a:r>
            <a:br/>
            <a:r>
              <a:t>│   ├── web/              # 前台 Web/PWA + API Routes (端口 3000)</a:t>
            </a:r>
            <a:br/>
            <a:r>
              <a:t>│   └── admin/            # 运营后台 (端口 3001)</a:t>
            </a:r>
            <a:br/>
            <a:r>
              <a:t>├── packages/</a:t>
            </a:r>
            <a:br/>
            <a:r>
              <a:t>│   ├── database/         # Prisma Schema + 迁移 + 种子数据 + Redis客户端</a:t>
            </a:r>
            <a:br/>
            <a:r>
              <a:t>│   ├── contracts/        # TypeScript 类型定义（36个模型）</a:t>
            </a:r>
            <a:br/>
            <a:r>
              <a:t>│   ├── utils/            # 共享工具 (ModelProviderAdapter / 评分引擎 / 控制引擎)</a:t>
            </a:r>
            <a:br/>
            <a:r>
              <a:t>│   ├── prompts/          # AI 提示词模板</a:t>
            </a:r>
            <a:br/>
            <a:r>
              <a:t>│   └── ui/               # 共享 UI 组件 (Section / PageHeader / StatusBadge)</a:t>
            </a:r>
            <a:br/>
            <a:r>
              <a:t>├── infra/docker/         # docker-compose.dev.yml (PostgreSQL 16 + Redis 7)</a:t>
            </a:r>
            <a:br/>
            <a:r>
              <a:t>├── docs/                 # 项目文档（10份）</a:t>
            </a:r>
            <a:br/>
            <a:r>
              <a:t>├── start.bat / start.ps1 / start.sh   # 三平台一键启动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37/52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DATA PANORAMA — 36个Prisma模型 / 六大业务域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核心实体关系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Consolas"/>
              </a:defRPr>
            </a:pPr>
            <a:r>
              <a:t>空间域          果园认养域          预约订单域          运营域           通知互动域        AI日报域</a:t>
            </a:r>
            <a:br/>
            <a:r>
              <a:t>───────         ──────────          ──────────          ──────           ──────────        ────────</a:t>
            </a:r>
            <a:br/>
            <a:r>
              <a:t>SpaceNode        OrchardTree         CourtyardActivity    Villager          Notification      DailyReport</a:t>
            </a:r>
            <a:br/>
            <a:r>
              <a:t>PresenceLog      TreeCareLog         ActivityBooking      Task              VisitorInteraction</a:t>
            </a:r>
            <a:br/>
            <a:r>
              <a:t>Visitor          TreeAdoption        UnifiedOrder         FarmingCalendar   Task</a:t>
            </a:r>
            <a:br/>
            <a:r>
              <a:t>NodeDailyScore   HarvestBooking      Product              FeedbackTicket</a:t>
            </a:r>
            <a:br/>
            <a:r>
              <a:t>Device           HarvestShipment                            FeedbackHandling</a:t>
            </a:r>
            <a:br/>
            <a:r>
              <a:t>DeviceReading                                             Record</a:t>
            </a:r>
            <a:br/>
            <a:r>
              <a:t>SensorReading                                              RouteGenerationLog</a:t>
            </a:r>
            <a:br/>
            <a:r>
              <a:t>Alert</a:t>
            </a:r>
            <a:br/>
            <a:r>
              <a:t>ControlCommand</a:t>
            </a:r>
            <a:br/>
            <a:br/>
            <a:r>
              <a:t>核心关系：SpaceNode ←1:N→ PresenceLog → Visitor  |  OrchardTree ←1:N→ TreeAdoption → VisitorInteractionTask</a:t>
            </a:r>
            <a:br/>
            <a:r>
              <a:t>User(新) → TreeAdoption.adopter  |  User(新) → RoutePlan  |  Recommendation(新) 独立运营建议表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38/52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API 与前端页面体系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API &amp; FRONTEND — 50路由 / 三语言 / 49页面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API 路由分组 (50个)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空间节点(4) · 客流(2) · 天气(2) · 路线(1)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院落预约(2) · 门票(1) · 活动(2)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237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树木认养(3) · 采摘(2) · 订单(1) · 产品(1)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712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村民(4) · 村民认证(2) · 任务(2) · 农事日历(1)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186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反馈(1) · IoT设施(6) · 告警(1) · AI(3)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通知(1) · 互动(2) · 分析(3) · 日报(2) · 上传(1)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136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认证(3) · 智策卡(2) — Phase A 新增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前端页面 (49页)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前台(游客+村民)：28页面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  - 首页/四境内容(5)/路线/预约/门票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  - 认养/树详情/互动/活动/农事日历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  - 村民门户(login/dashboard/tasks/earnings/notifications)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  - 用户中心/反馈/隐私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运营后台(admin)：21页面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  - 云脑总览/地图监控/反馈/节点/订单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  - 树木/采摘/活动/告警/交叉分析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  - 村民/农事/任务/内容工厂/AI助手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•   - 设备/产品/日报/设施/智策中心/设置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3A7A5C"/>
                </a:solidFill>
                <a:latin typeface="Microsoft YaHei"/>
              </a:defRPr>
            </a:pPr>
            <a:r>
              <a:t>三语言：zh-CN / en / 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39/52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三类用户完整旅程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USER JOURNEYS — 游客 / 村民 / 运营人员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5029200"/>
          </a:xfrm>
          <a:prstGeom prst="roundRect">
            <a:avLst/>
          </a:prstGeom>
          <a:solidFill>
            <a:srgbClr val="EFEADF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游客旅程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浏览四境 → AIGC路线 → 预约院落/购票</a:t>
            </a:r>
            <a:br/>
            <a:r>
              <a:t>│</a:t>
            </a:r>
            <a:br/>
            <a:r>
              <a:t>├→ 认养一棵树 → 树档案 → 养护通知 → 互动任务 → 采摘收货</a:t>
            </a:r>
            <a:br/>
            <a:r>
              <a:t>│</a:t>
            </a:r>
            <a:br/>
            <a:r>
              <a:t>└→ 参与活动 → 农事日历 → 节气活动 → 反馈评价 → 复访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EFEADF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村民旅程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手机号登录 → 仪表盘（收益/任务/通知）</a:t>
            </a:r>
            <a:br/>
            <a:r>
              <a:t>│</a:t>
            </a:r>
            <a:br/>
            <a:r>
              <a:t>├→ 任务列表 → 接取任务 → 开始执行 → 完成 → 获得收益</a:t>
            </a:r>
            <a:br/>
            <a:r>
              <a:t>│</a:t>
            </a:r>
            <a:br/>
            <a:r>
              <a:t>├→ 收益看板 → 累计¥ / 本月¥ / 趋势图</a:t>
            </a:r>
            <a:br/>
            <a:r>
              <a:t>│</a:t>
            </a:r>
            <a:br/>
            <a:r>
              <a:t>└→ 通知中心 → 新任务提醒 / 运营消息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566160" cy="5029200"/>
          </a:xfrm>
          <a:prstGeom prst="roundRect">
            <a:avLst/>
          </a:prstGeom>
          <a:solidFill>
            <a:srgbClr val="1A2E24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运营人员旅程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云脑总览 → 实时客流 / 收入 / 评分 / 热点</a:t>
            </a:r>
            <a:br/>
            <a:r>
              <a:t>│</a:t>
            </a:r>
            <a:br/>
            <a:r>
              <a:t>├→ 活动组织 → 创建活动 / 分配任务 / 管理村民</a:t>
            </a:r>
            <a:br/>
            <a:r>
              <a:t>├→ 监测告警 → 5类风险 / AI异常检测</a:t>
            </a:r>
            <a:br/>
            <a:r>
              <a:t>├→ 内容运营 → AIGC导览词 / 活动脚本 / 社媒文案</a:t>
            </a:r>
            <a:br/>
            <a:r>
              <a:t>├→ 数据分析 → 交叉分析 / 路线排名 / AI问答</a:t>
            </a:r>
            <a:br/>
            <a:r>
              <a:t>└→ 日报复盘 → AI日报 / 养护建议 / 预测 → 智策卡执行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40/52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四境空间与建筑营造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C8A45C"/>
                </a:solidFill>
                <a:latin typeface="Microsoft YaHei"/>
              </a:defRPr>
            </a:pPr>
            <a:r>
              <a:t>织境·走马 — 乡村四境空间的数字织造与场景营造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41/52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四境总览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FOUR REALMS — 空间模型与数字能力的对应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古道叙事境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场景：古道节点/驿站记忆/长寿文化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数字能力：AI导览词/AIGC路线/AR脚本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7451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核心体验：慢行游线/村史讲述/文化研学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11247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荔田共生境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场景：荔枝种植/采摘加工/果树认养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数字能力：数字档案/认养系统/采摘预约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54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核心体验：从一棵树到一桌宴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11247120" cy="1097280"/>
          </a:xfrm>
          <a:prstGeom prst="roundRect">
            <a:avLst/>
          </a:prstGeom>
          <a:solidFill>
            <a:srgbClr val="EFEAD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韧谷研学境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023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场景：龙溪河/雨洪管理/水电记忆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0233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数字能力：IoT感知/告警引擎/研学内容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348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核心体验：自然观察/水安全教育/生态工坊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12079"/>
            <a:ext cx="11247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03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D3B33"/>
                </a:solidFill>
                <a:latin typeface="Microsoft YaHei"/>
              </a:defRPr>
            </a:pPr>
            <a:r>
              <a:t>岭上共居境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303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场景：院落民宿/乡创办公/村民生活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3035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数字能力：院落预约/活动管理/农事日历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71499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核心体验：游客停留/青年驻留/村民共享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42/52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古道叙事境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ANCIENT PATH REALM — 让历史成为可行走的空间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场景与体验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修复古道关键节点：指路碑、驿站遗址、古道垭口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慢行游线设计：串联古道节点 + 观景平台 + 文化标识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村史讲述：以AIGC生成多版本叙事文本（导览版/亲子版/学术版）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AR导览：在关键节点扫描触发历史场景叠加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文化研学：唐代乐温县→荔枝古道→清代指路碑→当代走马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策略：文化转译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不把文化遗产做成静态展板——而是转化为可导览、可互动、可传播的内容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AIGC自动生成：讲解词 / AR脚本 / 社媒文案 / 研学教案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"古道"不只是历史遗迹——它是村庄故事的讲述线索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关键区分：走马村（长寿凤城）≠ 走马古镇（九龙坡），严格基于在地史实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指路碑出土实物 → 唐代乐温县建制 → 妃子园荔枝古道（《涪州志》）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43/52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荔田共生境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LYCHEE REALM — 从一棵树到一桌宴的消费体验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场景与体验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荔枝种植区 + 采摘体验园 + 加工工坊 + 食育空间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果树认养：树境·荔约子系统（详见Part 4）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采摘活动：按品种/成熟度分批开放采摘预约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食育课程：荔枝加工（荔枝干/荔枝蜜/荔枝酒）+ 乡村烘焙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"从一棵树到一桌宴"：认养→养护→采摘→加工→村宴→伴手礼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策略：产业共生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荔枝不是扩大种植面积，而是提升体验价值×故事价值×品牌价值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产品→场景→IP→数字资产：四次价值跃升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每个荔枝树 → 生长记录 / 认养档案 / 采摘预约 / 产品溯源 / 节气提醒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线上线下连续互动：消费者不是买一次就走，而是进入一年的陪伴关系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伴手礼开发：荔枝干/荔枝蜜/荔枝酒/荔枝主题文创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44/52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韧谷研学境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RESILIENT VALLEY REALM — 让生态成为可学习的公共空间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场景与体验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龙溪河韧性水岸：生态驳岸 + 亲水平台 + 观察步道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雨洪管理示范区：雨水花园 + 生态沟渠 + 塘体净化 + 湿地缓冲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水电记忆展陈：旧小水电设施改造为工业遗产展陈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自然观察课程：水质检测 / 水生生物观察 / 鸟类识别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水安全教育：雨洪模拟 / 应急演练 / 气候变化认知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策略：生态织补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以岭谷为骨架——不破坏山体/水系/林地/田坎肌理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海绵乡村技术：雨水花园 + 透水铺装 + 生态沟渠 + 塘体净化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生态保护不只看作底线——更是空间品质和运营体验的一部分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IoT传感器实时监测：水位/土壤湿度/雨量 → 自动告警 + AI决策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低影响开发：所有设施可逆、可维护、不对生态造成不可逆损害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45/52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岭上共居境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RIDGE CO-LIVING REALM — 闲置院落的再生与共居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场景与体验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院落民宿：改造闲置民居为特色民宿（5-8间/院，保持乡村尺度）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乡创办公：为返乡青年和远程工作者提供共享办公空间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村民公共空间：活动室 + 共享厨房 + 农产品展销 + 小型展陈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长寿生活体验：晨间农事 / 庭院茶席 / 柴火灶村宴 / 星空露台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三类人群共用：游客停留 + 青年驻留 + 村民日常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策略：建筑更新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轻介入：不拆、不大建——在既有结构上做精准功能置换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保留地域特征：坡屋顶/灰瓦/石基/木构/院坝/田坎肌理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功能植入：共享厨房+食育教室+研学工坊+民宿+办公+展销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绿色技术：自然通风 + 雨水收集 + 遮阳廊架 + 可修复材料 + 低能耗照明 + 局部光伏</a:t>
            </a:r>
          </a:p>
          <a:p>
            <a:pPr>
              <a:spcAft>
                <a:spcPts val="6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• "可维护、可生长"——改造不应成为村民未来的维护负担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46/52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空间组织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SPATIAL ORGANIZATION — 一云/一线/一河/两谷/多院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8A45C"/>
                </a:solidFill>
                <a:latin typeface="Microsoft YaHei"/>
              </a:defRPr>
            </a:pPr>
            <a:r>
              <a:t>总体空间骨架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1">
                <a:solidFill>
                  <a:srgbClr val="C8A45C"/>
                </a:solidFill>
                <a:latin typeface="Microsoft YaHei"/>
              </a:defRPr>
            </a:pPr>
            <a:r>
              <a:t>一云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D3B33"/>
                </a:solidFill>
                <a:latin typeface="Microsoft YaHei"/>
              </a:defRPr>
            </a:pPr>
            <a:r>
              <a:t>AIGC云脑与数字运营系统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48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全村的数字基础设施中枢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1">
                <a:solidFill>
                  <a:srgbClr val="C8A45C"/>
                </a:solidFill>
                <a:latin typeface="Microsoft YaHei"/>
              </a:defRPr>
            </a:pPr>
            <a:r>
              <a:t>一线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97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D3B33"/>
                </a:solidFill>
                <a:latin typeface="Microsoft YaHei"/>
              </a:defRPr>
            </a:pPr>
            <a:r>
              <a:t>古道长寿慢行线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17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串联古道遗存/观景平台/文化节点/院落的线性体验轴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1">
                <a:solidFill>
                  <a:srgbClr val="C8A45C"/>
                </a:solidFill>
                <a:latin typeface="Microsoft YaHei"/>
              </a:defRPr>
            </a:pPr>
            <a:r>
              <a:t>一河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D3B33"/>
                </a:solidFill>
                <a:latin typeface="Microsoft YaHei"/>
              </a:defRPr>
            </a:pPr>
            <a:r>
              <a:t>龙溪韧性水岸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86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生态廊道 + 亲水体验 + 自然教育空间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1">
                <a:solidFill>
                  <a:srgbClr val="C8A45C"/>
                </a:solidFill>
                <a:latin typeface="Microsoft YaHei"/>
              </a:defRPr>
            </a:pPr>
            <a:r>
              <a:t>两谷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434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D3B33"/>
                </a:solidFill>
                <a:latin typeface="Microsoft YaHei"/>
              </a:defRPr>
            </a:pPr>
            <a:r>
              <a:t>生态保育谷 + 农事体验谷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7548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保护与利用的平衡——山谷两侧分工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1">
                <a:solidFill>
                  <a:srgbClr val="C8A45C"/>
                </a:solidFill>
                <a:latin typeface="Microsoft YaHei"/>
              </a:defRPr>
            </a:pPr>
            <a:r>
              <a:t>多院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303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D3B33"/>
                </a:solidFill>
                <a:latin typeface="Microsoft YaHei"/>
              </a:defRPr>
            </a:pPr>
            <a:r>
              <a:t>云驿共生院 + 荔下共享院 + 水岸韧性工坊</a:t>
            </a:r>
            <a:br/>
            <a:r>
              <a:t>非遗食育院 + 低碳民宿院 + 村民共享院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6235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3A7A5C"/>
                </a:solidFill>
                <a:latin typeface="Microsoft YaHei"/>
              </a:defRPr>
            </a:pPr>
            <a:r>
              <a:t>6类院落节点，分散布局 + 功能互补 + 游线串联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C8A45C"/>
                </a:solidFill>
                <a:latin typeface="Microsoft YaHei"/>
              </a:defRPr>
            </a:pPr>
            <a:r>
              <a:t>游线层级：半日游（周边游客/核心节点）→ 一日游（增加食育/研学/村宴）→ 两日驻留（民宿+晨间农事+深度探索）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47/52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核心项目体系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CORE PROJECTS — 六类建筑与空间节点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68580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走马云驿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173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功能：游客服务中心 + AIGC展示 + 农产品展销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173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价值：统合云脑、古道导览、运营调度和品牌传播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12471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荔下共享院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40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功能：荔枝加工 + 食育课堂 + 亲子研学 + 伴手礼开发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40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价值：把荔枝产业从生产端延伸到体验端和消费端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11247120" cy="68580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龙溪韧性工坊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功能：雨洪管理 + 水系修复 + 水电记忆展示 + 生态教育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价值：把水安全治理转化为可学习、可体验的公共空间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112471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古道长寿线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功能：串联古道遗存 + 山地步道 + 观景平台 + 文化节点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价值：走马村最重要的慢行游线和文化叙事骨架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72000"/>
            <a:ext cx="11247120" cy="685800"/>
          </a:xfrm>
          <a:prstGeom prst="roundRect">
            <a:avLst/>
          </a:prstGeom>
          <a:solidFill>
            <a:srgbClr val="EFEAD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岭上共居院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功能：民宿 + 青年驻留 + 乡创办公 + 村民公共活动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价值：让闲置院落重新承载生活、创业和停留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94960"/>
            <a:ext cx="112471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D3B33"/>
                </a:solidFill>
                <a:latin typeface="Microsoft YaHei"/>
              </a:defRPr>
            </a:pPr>
            <a:r>
              <a:t>数字认养系统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功能：树档案 + 互动任务 + 采摘预约 + 产品溯源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3A7A5C"/>
                </a:solidFill>
                <a:latin typeface="Microsoft YaHei"/>
              </a:defRPr>
            </a:pPr>
            <a:r>
              <a:t>价值：建立游客、村民、果园和品牌之间的持续关系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48/52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设计导则与底线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DESIGN GUIDELINES — 建筑与空间设计的约束条件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生态底线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不突破生态保护红线，不占用永久基本农田，不破坏山体、水系、林地和原有田坎肌理。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乡土底线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40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不把村庄改造成脱离日常生活的主题化景区，保留真实生产、真实居住和真实公共生活。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尺度底线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089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坚持小尺度、低干预、可维护、可生长的改造方式。避免大体量新建和过度商业化包装。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材料底线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7763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优先使用可修复材料：青石、木材、青砖、夯土。绿色技术：自然通风/雨水收集/遮阳廊架/低能耗照明/局部光伏。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产业底线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463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荔枝产业升级尊重农业生产规律，以村民参与和持续收益为前提，不做一次性活动。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C8A45C"/>
                </a:solidFill>
                <a:latin typeface="Microsoft YaHei"/>
              </a:defRPr>
            </a:pPr>
            <a:r>
              <a:t>技术底线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715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AIGC服务运营、教育、传播和管理，不让数字展示喧宾夺主，不替代村民主体性。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49/52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40"/>
              </a:spcAft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织境·走马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36576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2400" b="0">
                <a:solidFill>
                  <a:srgbClr val="C8A45C"/>
                </a:solidFill>
                <a:latin typeface="Microsoft YaHei"/>
              </a:defRPr>
            </a:pPr>
            <a:r>
              <a:t>乡村四境空间的数字织造与场景营造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"织"—— 将分散的人、树、园、道、院，用数字技术重新编织成可感知的服务网络</a:t>
            </a:r>
            <a:br/>
            <a:br/>
            <a:r>
              <a:t>"境"—— 古道叙事境 / 荔田共生境 / 韧谷研学境 / 岭上共居境，四类空间场景</a:t>
            </a:r>
            <a:br/>
            <a:br/>
            <a:r>
              <a:t>这不是一个先建App再填充内容的互联网产品，而是一个以真实乡村资源为核心，</a:t>
            </a:r>
            <a:br/>
            <a:r>
              <a:t>用AIGC + IoT + 分布式服务共同编织的数字化乡村空间。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50/52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实施路径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C8A45C"/>
                </a:solidFill>
                <a:latin typeface="Microsoft YaHei"/>
              </a:defRPr>
            </a:pPr>
            <a:r>
              <a:t>IMPLEMENTATION ROADMAP — 四阶段递进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5029200"/>
          </a:xfrm>
          <a:prstGeom prst="roundRect">
            <a:avLst/>
          </a:prstGeom>
          <a:solidFill>
            <a:srgbClr val="EFEADF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0"/>
              </a:spcAft>
              <a:defRPr sz="1700" b="1">
                <a:solidFill>
                  <a:srgbClr val="0D3B33"/>
                </a:solidFill>
                <a:latin typeface="Microsoft YaHei"/>
              </a:defRPr>
            </a:pPr>
            <a:r>
              <a:t>第一阶段</a:t>
            </a:r>
            <a:br/>
            <a:r>
              <a:t>补底盘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梳理古道/水系/果园/院落/公共空间资源</a:t>
            </a:r>
            <a:br/>
            <a:r>
              <a:t>完成基础导视 + 环境整治 + 生态安全修复</a:t>
            </a:r>
            <a:br/>
            <a:r>
              <a:t>启动AIGC云脑基础设施搭建（数据库/IoT）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C8A45C"/>
                </a:solidFill>
                <a:latin typeface="Microsoft YaHei"/>
              </a:defRPr>
            </a:pPr>
            <a:r>
              <a:t>▼ 阶段成果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9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可进入、可识别、可维护的村庄更新基础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5029200"/>
          </a:xfrm>
          <a:prstGeom prst="roundRect">
            <a:avLst/>
          </a:prstGeom>
          <a:solidFill>
            <a:srgbClr val="1A2E24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第二阶段</a:t>
            </a:r>
            <a:br/>
            <a:r>
              <a:t>建样板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优先落地：走马云驿 + 荔下共享院 + 龙溪韧性工坊</a:t>
            </a:r>
            <a:br/>
            <a:r>
              <a:t>一段古道长寿线 + 首批荔枝树认养上线</a:t>
            </a:r>
            <a:br/>
            <a:r>
              <a:t>村民任务系统 + 运营后台MVP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C8A45C"/>
                </a:solidFill>
                <a:latin typeface="Microsoft YaHei"/>
              </a:defRPr>
            </a:pPr>
            <a:r>
              <a:t>▼ 阶段成果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5349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可展示、可运营、可复制的核心样板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651760" cy="5029200"/>
          </a:xfrm>
          <a:prstGeom prst="roundRect">
            <a:avLst/>
          </a:prstGeom>
          <a:solidFill>
            <a:srgbClr val="EFEADF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0"/>
              </a:spcAft>
              <a:defRPr sz="1700" b="1">
                <a:solidFill>
                  <a:srgbClr val="0D3B33"/>
                </a:solidFill>
                <a:latin typeface="Microsoft YaHei"/>
              </a:defRPr>
            </a:pPr>
            <a:r>
              <a:t>第三阶段</a:t>
            </a:r>
            <a:br/>
            <a:r>
              <a:t>成网络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串联多院、多田、多水岸节点</a:t>
            </a:r>
            <a:br/>
            <a:r>
              <a:t>完善研学/民宿/节庆/农产品销售体系</a:t>
            </a:r>
            <a:br/>
            <a:r>
              <a:t>智策卡系统 + 五流合一引擎 + 完整AI矩阵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C8A45C"/>
                </a:solidFill>
                <a:latin typeface="Microsoft YaHei"/>
              </a:defRPr>
            </a:pPr>
            <a:r>
              <a:t>▼ 阶段成果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349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村庄空间网络和产业消费闭环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651760" cy="5029200"/>
          </a:xfrm>
          <a:prstGeom prst="roundRect">
            <a:avLst/>
          </a:prstGeom>
          <a:solidFill>
            <a:srgbClr val="1A2E24"/>
          </a:solidFill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第四阶段</a:t>
            </a:r>
            <a:br/>
            <a:r>
              <a:t>会迭代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AIGC+数字中台持续收集游客反馈/农事数据/生态监测/经营数据</a:t>
            </a:r>
            <a:br/>
            <a:r>
              <a:t>数据驱动年度更新 + 活动策划 + 品牌传播</a:t>
            </a:r>
            <a:br/>
            <a:r>
              <a:t>从"人运营村"到"村在数据中自我迭代"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C8A45C"/>
                </a:solidFill>
                <a:latin typeface="Microsoft YaHei"/>
              </a:defRPr>
            </a:pPr>
            <a:r>
              <a:t>▼ 阶段成果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5349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C8A45C"/>
                </a:solidFill>
                <a:latin typeface="Microsoft YaHei"/>
              </a:defRPr>
            </a:pPr>
            <a:r>
              <a:t>年度更新、活动策划和品牌传播的长效机制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51/52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60"/>
              </a:spcAft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最终愿景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3657600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"云脉寿岭，荔水走马"最终要呈现的，</a:t>
            </a:r>
            <a:br/>
            <a:r>
              <a:t>不是一个被技术包裹的乡村，也不是一个被景观包装的村落，</a:t>
            </a:r>
            <a:br/>
            <a:r>
              <a:t>而是一套能够持续生长的乡村共同体。</a:t>
            </a:r>
            <a:br/>
            <a:br/>
            <a:r>
              <a:t>它以 AIGC 赋能村庄运营，以古道唤醒历史文化，</a:t>
            </a:r>
            <a:br/>
            <a:r>
              <a:t>以荔枝重塑乡村产业，以水脉修复生态韧性，</a:t>
            </a:r>
            <a:br/>
            <a:r>
              <a:t>以岭上院落承载新的乡村生活。</a:t>
            </a:r>
            <a:br/>
            <a:br/>
            <a:r>
              <a:t>在这里，</a:t>
            </a:r>
            <a:br/>
            <a:r>
              <a:t>古道不再只是遗迹，而成为村庄重新被行走的路径；</a:t>
            </a:r>
            <a:br/>
            <a:r>
              <a:t>荔枝不再只是农产品，而成为连接人与土地的媒介；</a:t>
            </a:r>
            <a:br/>
            <a:r>
              <a:t>龙溪水脉不再只是治理对象，而成为生态教育的活课堂；</a:t>
            </a:r>
            <a:br/>
            <a:r>
              <a:t>闲置院落不再只是衰败空间，而成为共居共创的新场所。</a:t>
            </a:r>
            <a:br/>
            <a:br/>
            <a:r>
              <a:t>走马村 —— 一座有历史深度的村，一座有产业弹性的村，</a:t>
            </a:r>
            <a:br/>
            <a:r>
              <a:t>一座有生态韧性的村，也是一座能被数字技术持续照亮的山水村落。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  <a:defRPr sz="3600" b="1">
                <a:solidFill>
                  <a:srgbClr val="C8A45C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DDD5C8"/>
                </a:solidFill>
                <a:latin typeface="Microsoft YaHei"/>
              </a:defRPr>
            </a:pPr>
            <a:r>
              <a:t>织境·走马  |  树境·荔约  |  建筑设计课程答辩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DDD5C8"/>
                </a:solidFill>
                <a:latin typeface="Microsoft YaHei"/>
              </a:defRPr>
            </a:pPr>
            <a:r>
              <a:t>52/52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